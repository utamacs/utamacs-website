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UTAMACS COS  ·  COMMUNITY OPERATING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595360" y="457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5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BRIEFING  ·  MAY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895448" y="1143000"/>
            <a:ext cx="640080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30200" dist="76200" dir="5400000">
              <a:srgbClr val="000000">
                <a:alpha val="32000"/>
              </a:srgbClr>
            </a:outerShdw>
          </a:effectLst>
        </p:spPr>
      </p:sp>
      <p:pic>
        <p:nvPicPr>
          <p:cNvPr id="5" name="Image 0" descr="/sessions/admiring-stoic-tesla/mnt/outputs/deck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5488" y="998436"/>
            <a:ext cx="5760720" cy="26665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47208" y="3840480"/>
            <a:ext cx="1097280" cy="0"/>
          </a:xfrm>
          <a:prstGeom prst="line">
            <a:avLst/>
          </a:prstGeom>
          <a:noFill/>
          <a:ln w="18288">
            <a:solidFill>
              <a:srgbClr val="D4A24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206240"/>
            <a:ext cx="103628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your society like an institution.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371600" y="5212080"/>
            <a:ext cx="94484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Operating System — built by an owner, for owners — engineered for the day Urban Trilla takes over from the builder.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263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pPr indent="0" marL="0">
              <a:buNone/>
            </a:pPr>
            <a:r>
              <a:rPr lang="en-US" sz="1000" b="1" spc="6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DAYS TO HANDOVER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03504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Kondakal, Shankarpalle, Ranga Reddy District, Telangana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22-DAY WINDOW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1 June, you take over from the builder.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governance gaps are open today. The portal closes all four — by design, on day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2016" y="26060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2016" y="2606040"/>
            <a:ext cx="2606040" cy="54864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7" name="Text 5"/>
          <p:cNvSpPr/>
          <p:nvPr/>
        </p:nvSpPr>
        <p:spPr>
          <a:xfrm>
            <a:off x="810616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TAKEOVER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10616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Builder handover, traceable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0616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defect, every document, every approval lands in HOTO Tracker — with dual sign-off and a permanent evidence chain.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9224" y="26060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9224" y="2606040"/>
            <a:ext cx="2606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617824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7824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accountable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617824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log, patrol shifts, incident escalation — already live on the portal. QR / OTP check-in shipping with the mobile apps in 30 days.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96432" y="26060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6432" y="260604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425032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DOCUMENTS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25032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vault. End of scatter.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25032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deeds, minutes, vendor invoices and policies — version-controlled in a private GitHub vault, signed downloads expire in 60 minutes.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03640" y="2606040"/>
            <a:ext cx="2606040" cy="3291840"/>
          </a:xfrm>
          <a:prstGeom prst="roundRect">
            <a:avLst>
              <a:gd name="adj" fmla="val 4912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3640" y="2606040"/>
            <a:ext cx="2606040" cy="54864"/>
          </a:xfrm>
          <a:prstGeom prst="rect">
            <a:avLst/>
          </a:prstGeom>
          <a:solidFill>
            <a:srgbClr val="3B5BD9"/>
          </a:solidFill>
          <a:ln/>
        </p:spPr>
      </p:sp>
      <p:sp>
        <p:nvSpPr>
          <p:cNvPr id="22" name="Text 20"/>
          <p:cNvSpPr/>
          <p:nvPr/>
        </p:nvSpPr>
        <p:spPr>
          <a:xfrm>
            <a:off x="9232240" y="2880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3B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COMPLIANCE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32240" y="3200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Clock is already ticking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232240" y="42976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DPDPA-2023, RERA, society byelaws — the deadlines do not wait for the AGM. The portal answers all three, today.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6126480"/>
            <a:ext cx="10911535" cy="0"/>
          </a:xfrm>
          <a:prstGeom prst="line">
            <a:avLst/>
          </a:prstGeom>
          <a:noFill/>
          <a:ln w="9144">
            <a:solidFill>
              <a:srgbClr val="2D3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217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is the answer to all four — built, tested and ready before handover day.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DOING NOTHING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liabilities, all maturing this year.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80848" y="219456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6608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46608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sprawl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6608" y="3749040"/>
            <a:ext cx="2926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746608" y="4581144"/>
            <a:ext cx="2926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· ONE YEAR LIVED · DECADES AHEAD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6608" y="5120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of operating decisions, plus the entire builder handover, sit across messages, mailboxes, paper trails and personal drives — tools the society does not own. None of it traceable end-to-end. None of it producible in a dispute. The longer it runs, the deeper the deficit.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7048" y="219456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2808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32808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risk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32808" y="3749040"/>
            <a:ext cx="2926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632808" y="4581144"/>
            <a:ext cx="2926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TODAY · 2 REQUIRED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32808" y="5120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Single-person approvals. No audit of who decided what. No defensible record at the next AGM, no trail for the next committee, no protection for the current one.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3248" y="219456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9008" y="2468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519008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debt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19008" y="3749040"/>
            <a:ext cx="292608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4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8519008" y="4581144"/>
            <a:ext cx="29260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REGIMES · DPDPA · RERA · SOCIETY BYELAWS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19008" y="5120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DPDPA-2023 mandates consent, audit, anonymity. RERA disputes need evidence chains. Society byelaws bind membership to property proof. Each one is a clock.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— FOR URBAN TRILLA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Community Operating System, ready for day one.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21488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workflow your committee touches — onboarding, complaints, finance, vendors, AGM, polls, policies, KYC, parking, snags, security, gallery, letters, staff lifecycle, asset register and preventive maintenance — runs end-to-end on one auditable Community Operating System. Built specifically for Urban Trilla MACS, governed by your byelaw, owned by your society.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2308" y="402336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1B2540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2308" y="4023360"/>
            <a:ext cx="54864" cy="201168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7" name="Text 5"/>
          <p:cNvSpPr/>
          <p:nvPr/>
        </p:nvSpPr>
        <p:spPr>
          <a:xfrm>
            <a:off x="952348" y="4389120"/>
            <a:ext cx="19202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52348" y="528066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· LIVE TODAY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21228" y="402336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1B2540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1228" y="4023360"/>
            <a:ext cx="54864" cy="201168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1" name="Text 9"/>
          <p:cNvSpPr/>
          <p:nvPr/>
        </p:nvSpPr>
        <p:spPr>
          <a:xfrm>
            <a:off x="3741268" y="4389120"/>
            <a:ext cx="19202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90+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741268" y="528066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DATA TABLES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0148" y="402336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1B2540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0148" y="4023360"/>
            <a:ext cx="54864" cy="201168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5" name="Text 13"/>
          <p:cNvSpPr/>
          <p:nvPr/>
        </p:nvSpPr>
        <p:spPr>
          <a:xfrm>
            <a:off x="6530188" y="4389120"/>
            <a:ext cx="19202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80+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6530188" y="528066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PERMISSIONS · 5 ROLES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999068" y="4023360"/>
            <a:ext cx="2560320" cy="2011680"/>
          </a:xfrm>
          <a:prstGeom prst="roundRect">
            <a:avLst>
              <a:gd name="adj" fmla="val 6364"/>
            </a:avLst>
          </a:prstGeom>
          <a:solidFill>
            <a:srgbClr val="1B2540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99068" y="4023360"/>
            <a:ext cx="54864" cy="201168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19" name="Text 17"/>
          <p:cNvSpPr/>
          <p:nvPr/>
        </p:nvSpPr>
        <p:spPr>
          <a:xfrm>
            <a:off x="9319108" y="4389120"/>
            <a:ext cx="19202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9319108" y="5280660"/>
            <a:ext cx="19202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WRITES · IMMUTABLY AUDITED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§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moves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40080" y="3108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B0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make this categorically different from the alternatives in this segment.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82016" y="4754880"/>
            <a:ext cx="2606040" cy="1051560"/>
          </a:xfrm>
          <a:prstGeom prst="roundRect">
            <a:avLst>
              <a:gd name="adj" fmla="val 12174"/>
            </a:avLst>
          </a:prstGeom>
          <a:solidFill>
            <a:srgbClr val="1F2B4A">
              <a:alpha val="75000"/>
            </a:srgbClr>
          </a:solidFill>
          <a:ln w="6350">
            <a:solidFill>
              <a:srgbClr val="D4A2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0616" y="4919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10616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HOTO Dual Sign-Off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9224" y="4754880"/>
            <a:ext cx="2606040" cy="1051560"/>
          </a:xfrm>
          <a:prstGeom prst="roundRect">
            <a:avLst>
              <a:gd name="adj" fmla="val 12174"/>
            </a:avLst>
          </a:prstGeom>
          <a:solidFill>
            <a:srgbClr val="1F2B4A">
              <a:alpha val="75000"/>
            </a:srgbClr>
          </a:solidFill>
          <a:ln w="6350">
            <a:solidFill>
              <a:srgbClr val="D4A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7824" y="4919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7824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Engine — byelaw without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6432" y="4754880"/>
            <a:ext cx="2606040" cy="1051560"/>
          </a:xfrm>
          <a:prstGeom prst="roundRect">
            <a:avLst>
              <a:gd name="adj" fmla="val 12174"/>
            </a:avLst>
          </a:prstGeom>
          <a:solidFill>
            <a:srgbClr val="1F2B4A">
              <a:alpha val="75000"/>
            </a:srgbClr>
          </a:solidFill>
          <a:ln w="6350">
            <a:solidFill>
              <a:srgbClr val="D4A2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5032" y="4919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25032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DPDPA Trust Layer + GitHub vault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03640" y="4754880"/>
            <a:ext cx="2606040" cy="1051560"/>
          </a:xfrm>
          <a:prstGeom prst="roundRect">
            <a:avLst>
              <a:gd name="adj" fmla="val 12174"/>
            </a:avLst>
          </a:prstGeom>
          <a:solidFill>
            <a:srgbClr val="1F2B4A">
              <a:alpha val="75000"/>
            </a:srgbClr>
          </a:solidFill>
          <a:ln w="6350">
            <a:solidFill>
              <a:srgbClr val="D4A2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2240" y="4919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32240" y="52120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Letterhead + Finance Ledger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ONE  · 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HOTO. Dual sign-off.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point of approval.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454335" y="32004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0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even the President can close an item alone — and that is the feature, not a bug.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6035040" cy="3337560"/>
          </a:xfrm>
          <a:prstGeom prst="roundRect">
            <a:avLst>
              <a:gd name="adj" fmla="val 3836"/>
            </a:avLst>
          </a:prstGeom>
          <a:solidFill>
            <a:srgbClr val="1B2540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 ITEM · UT-2026-014  ·  Lobby HVAC pre-handover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Pres. Review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60120" y="3749040"/>
            <a:ext cx="969264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74904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82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9384" y="4000500"/>
            <a:ext cx="137160" cy="0"/>
          </a:xfrm>
          <a:prstGeom prst="line">
            <a:avLst/>
          </a:prstGeom>
          <a:noFill/>
          <a:ln w="12700">
            <a:solidFill>
              <a:srgbClr val="2D375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6544" y="3749040"/>
            <a:ext cx="969264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2066544" y="374904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82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35808" y="4000500"/>
            <a:ext cx="137160" cy="0"/>
          </a:xfrm>
          <a:prstGeom prst="line">
            <a:avLst/>
          </a:prstGeom>
          <a:noFill/>
          <a:ln w="12700">
            <a:solidFill>
              <a:srgbClr val="2D37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3749040"/>
            <a:ext cx="969264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3172968" y="374904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82F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REVIEW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42232" y="4000500"/>
            <a:ext cx="137160" cy="0"/>
          </a:xfrm>
          <a:prstGeom prst="line">
            <a:avLst/>
          </a:prstGeom>
          <a:noFill/>
          <a:ln w="12700">
            <a:solidFill>
              <a:srgbClr val="2D37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3749040"/>
            <a:ext cx="969264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279392" y="374904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PRES. REVIEW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248656" y="4000500"/>
            <a:ext cx="137160" cy="0"/>
          </a:xfrm>
          <a:prstGeom prst="line">
            <a:avLst/>
          </a:prstGeom>
          <a:noFill/>
          <a:ln w="12700">
            <a:solidFill>
              <a:srgbClr val="2D37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85816" y="3749040"/>
            <a:ext cx="969264" cy="502920"/>
          </a:xfrm>
          <a:prstGeom prst="roundRect">
            <a:avLst>
              <a:gd name="adj" fmla="val 14545"/>
            </a:avLst>
          </a:prstGeom>
          <a:solidFill>
            <a:srgbClr val="2D3754"/>
          </a:solidFill>
          <a:ln/>
        </p:spPr>
      </p:sp>
      <p:sp>
        <p:nvSpPr>
          <p:cNvPr id="22" name="Text 20"/>
          <p:cNvSpPr/>
          <p:nvPr/>
        </p:nvSpPr>
        <p:spPr>
          <a:xfrm>
            <a:off x="5385816" y="3749040"/>
            <a:ext cx="969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" y="4572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31A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47365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5029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97280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May · 14:32  ·  signed-off + comment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457200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131A2E"/>
          </a:solidFill>
          <a:ln w="12700">
            <a:solidFill>
              <a:srgbClr val="F59E0B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886200" y="47365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86200" y="50292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Pending review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886200" y="5394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Auto-escalates at 7 / 14 / 30 days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32320" y="288036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71323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43800" y="283464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signatures, mandatory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43800" y="324612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plus President — both gates required. The state machine refuses to advance without both.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0" y="399288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0" y="399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43800" y="394716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SLA-aware, self-escalating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43800" y="435864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signatory delays, escalation fires at 7, 14 and 30 days — automatically. No manual follow-up needed.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32320" y="510540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5105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543800" y="505968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chain, immutable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543800" y="547116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doc, comment, state change tied to an audit log entry that no role — including admin — can edit or delete.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6263640"/>
            <a:ext cx="10911535" cy="0"/>
          </a:xfrm>
          <a:prstGeom prst="line">
            <a:avLst/>
          </a:prstGeom>
          <a:noFill/>
          <a:ln w="9144">
            <a:solidFill>
              <a:srgbClr val="2D37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TWO  ·  CONFIGURABILITY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byelaw rules in 30 seconds.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code. Always audit-logged.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454335" y="32004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Quorum %, approval limits, SLAs, fees, upload caps — every business value lives in one queryable table.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6035040" cy="3337560"/>
          </a:xfrm>
          <a:prstGeom prst="roundRect">
            <a:avLst>
              <a:gd name="adj" fmla="val 3836"/>
            </a:avLst>
          </a:prstGeom>
          <a:solidFill>
            <a:srgbClr val="1B2540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A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/admin/rules — society configuration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CODE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91840" y="3474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212080" y="3474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5486400" cy="329184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84048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AGM_QUORUM_PERCENTAGE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38404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4840" y="3840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38404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60120" y="42062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FINANCE_APPROVAL_TIER_1_LIMIT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420624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2062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420624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14400" y="4572000"/>
            <a:ext cx="5486400" cy="329184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457200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COMPLAINT_ACK_SLA_HOURS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7560" y="45720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4572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57800" y="4572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960120" y="493776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SIGNED_URL_EXPIRY_SECS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37560" y="4937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34840" y="49377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57800" y="493776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DPDPA · LOCKED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14400" y="5303520"/>
            <a:ext cx="5486400" cy="329184"/>
          </a:xfrm>
          <a:prstGeom prst="rect">
            <a:avLst/>
          </a:prstGeom>
          <a:solidFill>
            <a:srgbClr val="131A2E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30352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POLL_QUORUM_PERCENTAGE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53035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34840" y="53035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257800" y="530352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14400" y="5715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audit-logged with diff, actor and timestamp.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0" y="2880360"/>
            <a:ext cx="256032" cy="256032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43800" y="283464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Editable from one screen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43800" y="324612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/admin/rules surfaces every configurable parameter. No engineering ticket, no release window.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32320" y="3992880"/>
            <a:ext cx="256032" cy="256032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0" y="399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43800" y="394716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where it must be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43800" y="435864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DPDPA-mandated rules (signed-URL expiry, retention floors) flag as locked. Compliance is enforced, not requested.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32320" y="5105400"/>
            <a:ext cx="256032" cy="256032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45" name="Text 43"/>
          <p:cNvSpPr/>
          <p:nvPr/>
        </p:nvSpPr>
        <p:spPr>
          <a:xfrm>
            <a:off x="7132320" y="5105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543800" y="505968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Diff-tracked, attributable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543800" y="547116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captures who, when and the before/after value. The next AGM has its trail, automatically.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0080" y="6263640"/>
            <a:ext cx="10911535" cy="0"/>
          </a:xfrm>
          <a:prstGeom prst="line">
            <a:avLst/>
          </a:prstGeom>
          <a:noFill/>
          <a:ln w="9144">
            <a:solidFill>
              <a:srgbClr val="2D375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B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THREE  ·  TRUST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data, your law.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design, not by promise.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454335" y="32004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0" dirty="0">
                <a:solidFill>
                  <a:srgbClr val="3B5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layer of the stack assumes the database tier — not the app tier — is the security boundary.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6035040" cy="3337560"/>
          </a:xfrm>
          <a:prstGeom prst="roundRect">
            <a:avLst>
              <a:gd name="adj" fmla="val 3836"/>
            </a:avLst>
          </a:prstGeom>
          <a:solidFill>
            <a:srgbClr val="1B2540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STACK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3429000"/>
            <a:ext cx="5486400" cy="514350"/>
          </a:xfrm>
          <a:prstGeom prst="roundRect">
            <a:avLst>
              <a:gd name="adj" fmla="val 12444"/>
            </a:avLst>
          </a:prstGeom>
          <a:solidFill>
            <a:srgbClr val="131A2E"/>
          </a:solidFill>
          <a:ln w="12700">
            <a:solidFill>
              <a:srgbClr val="3B5B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429000"/>
            <a:ext cx="54864" cy="514350"/>
          </a:xfrm>
          <a:prstGeom prst="rect">
            <a:avLst/>
          </a:prstGeom>
          <a:solidFill>
            <a:srgbClr val="3B5BD9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021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3B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3813048"/>
            <a:ext cx="52578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tier · cannot be bypassed by app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4034790"/>
            <a:ext cx="5486400" cy="514350"/>
          </a:xfrm>
          <a:prstGeom prst="roundRect">
            <a:avLst>
              <a:gd name="adj" fmla="val 12444"/>
            </a:avLst>
          </a:prstGeom>
          <a:solidFill>
            <a:srgbClr val="131A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034790"/>
            <a:ext cx="54864" cy="51435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0794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43000" y="4418838"/>
            <a:ext cx="52578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Aadhaar · last-4 only at render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640580"/>
            <a:ext cx="5486400" cy="514350"/>
          </a:xfrm>
          <a:prstGeom prst="roundRect">
            <a:avLst>
              <a:gd name="adj" fmla="val 12444"/>
            </a:avLst>
          </a:prstGeom>
          <a:solidFill>
            <a:srgbClr val="131A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640580"/>
            <a:ext cx="54864" cy="51435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47137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5024628"/>
            <a:ext cx="52578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· NO UPDATE · NO DELETE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5246370"/>
            <a:ext cx="5486400" cy="514350"/>
          </a:xfrm>
          <a:prstGeom prst="roundRect">
            <a:avLst>
              <a:gd name="adj" fmla="val 12444"/>
            </a:avLst>
          </a:prstGeom>
          <a:solidFill>
            <a:srgbClr val="131A2E"/>
          </a:solidFill>
          <a:ln w="12700">
            <a:solidFill>
              <a:srgbClr val="D4A24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246370"/>
            <a:ext cx="54864" cy="51435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31952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VAULT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5630418"/>
            <a:ext cx="5257800" cy="130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· pre-signed downloads expire 60 min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2880360"/>
            <a:ext cx="256032" cy="256032"/>
          </a:xfrm>
          <a:prstGeom prst="ellipse">
            <a:avLst/>
          </a:prstGeom>
          <a:solidFill>
            <a:srgbClr val="3B5BD9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43800" y="283464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Database-tier access control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543800" y="324612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on every table. The app cannot bypass it; even an admin override leaves an audit trail.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0" y="3992880"/>
            <a:ext cx="256032" cy="256032"/>
          </a:xfrm>
          <a:prstGeom prst="ellipse">
            <a:avLst/>
          </a:prstGeom>
          <a:solidFill>
            <a:srgbClr val="3B5BD9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0" y="399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543800" y="394716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Anonymous, when it matters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543800" y="435864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and feedback can hide the voter; the database keeps a hashed record only for one-vote-per-unit.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132320" y="5105400"/>
            <a:ext cx="256032" cy="256032"/>
          </a:xfrm>
          <a:prstGeom prst="ellipse">
            <a:avLst/>
          </a:prstGeom>
          <a:solidFill>
            <a:srgbClr val="3B5BD9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5105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543800" y="505968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that expire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43800" y="547116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download URL is pre-signed, expires in 60 minutes. The vault keeps a version for the auditor — not for the public.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6263640"/>
            <a:ext cx="10911535" cy="0"/>
          </a:xfrm>
          <a:prstGeom prst="line">
            <a:avLst/>
          </a:prstGeom>
          <a:noFill/>
          <a:ln w="9144">
            <a:solidFill>
              <a:srgbClr val="2D37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USP FOUR  ·  TREASURY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3210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treasury afternoon — automated, end-to-end.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454335" y="320040"/>
            <a:ext cx="1188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Letters, invoices, receipts, expense approvals — tasks that used to consume an evening, finished before tea.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6035040" cy="3337560"/>
          </a:xfrm>
          <a:prstGeom prst="roundRect">
            <a:avLst>
              <a:gd name="adj" fmla="val 3836"/>
            </a:avLst>
          </a:prstGeom>
          <a:solidFill>
            <a:srgbClr val="1B2540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0175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pic>
        <p:nvPicPr>
          <p:cNvPr id="8" name="Image 0" descr="/sessions/admiring-stoic-tesla/mnt/outputs/deck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154680"/>
            <a:ext cx="2377440" cy="1100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51560" y="4438048"/>
            <a:ext cx="2377440" cy="0"/>
          </a:xfrm>
          <a:prstGeom prst="line">
            <a:avLst/>
          </a:prstGeom>
          <a:noFill/>
          <a:ln w="10973">
            <a:solidFill>
              <a:srgbClr val="B6883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4529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NO-OBJECTION CERTIFICATE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" y="4758088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 Suresh K · Flat A-302 · Re-sale formality.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society has no objection to the proposed transfer.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Secretary · Joint Secretary · President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749040" y="3017520"/>
            <a:ext cx="2651760" cy="2834640"/>
          </a:xfrm>
          <a:prstGeom prst="roundRect">
            <a:avLst>
              <a:gd name="adj" fmla="val 2759"/>
            </a:avLst>
          </a:prstGeom>
          <a:solidFill>
            <a:srgbClr val="131A2E"/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86200" y="3108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88620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UT/26-27/0142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886200" y="36301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maintenance · Flat B-204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86200" y="4069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· Q1 26-27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30352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 18,000.00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886200" y="4361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fund contribution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303520" y="43616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  2,500.00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886200" y="4654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· 18%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303520" y="4654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₹  3,690.00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886200" y="49469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· 2% (vendor side)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03520" y="4946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886200" y="5294376"/>
            <a:ext cx="2377440" cy="0"/>
          </a:xfrm>
          <a:prstGeom prst="line">
            <a:avLst/>
          </a:prstGeom>
          <a:noFill/>
          <a:ln w="18288">
            <a:solidFill>
              <a:srgbClr val="D4A24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53675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DUE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0" y="53126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 24,190.00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132320" y="288036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7132320" y="2880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543800" y="283464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Letterhead-as-a-service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543800" y="324612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official letter pulls live committee names + signatures. The day a committee changes, the letterhead does too.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32320" y="399288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7132320" y="39928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543800" y="394716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Three-tier expense approvals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7543800" y="435864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Secretary up to ₹10K · President up to ₹20K · Board resolution up to ₹50K. The portal enforces the tier, not the human.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7132320" y="5105400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6" name="Text 33"/>
          <p:cNvSpPr/>
          <p:nvPr/>
        </p:nvSpPr>
        <p:spPr>
          <a:xfrm>
            <a:off x="7132320" y="5105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7543800" y="5059680"/>
            <a:ext cx="40078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and TDS-aware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7543800" y="5471160"/>
            <a:ext cx="4007815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18% on services, TDS 2% on vendor payments — modelled in every invoice and every receipt, ready for filing.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40080" y="6263640"/>
            <a:ext cx="10911535" cy="0"/>
          </a:xfrm>
          <a:prstGeom prst="line">
            <a:avLst/>
          </a:prstGeom>
          <a:noFill/>
          <a:ln w="9144">
            <a:solidFill>
              <a:srgbClr val="2D375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18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· BY STRUCTURE, NOT BY PROMISE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we walk away?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structural answers — none of them rely on a single human staying put.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848" y="228600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848" y="2286000"/>
            <a:ext cx="3657600" cy="54864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7" name="Text 5"/>
          <p:cNvSpPr/>
          <p:nvPr/>
        </p:nvSpPr>
        <p:spPr>
          <a:xfrm>
            <a:off x="746608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46608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an owner, for owners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6608" y="40690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V Subramanyam is a resident of Urban Trilla. The portal serves the society he lives in. Skin in the game is structural, not pledged.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7048" y="228600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048" y="228600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808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32808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Co-maintainer on engagement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32808" y="40690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engineer is activated under a signed SLA on engagement, working alongside the lead. Bus factor greater than one — by contract.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3248" y="2286000"/>
            <a:ext cx="3657600" cy="365760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3248" y="2286000"/>
            <a:ext cx="3657600" cy="54864"/>
          </a:xfrm>
          <a:prstGeom prst="rect">
            <a:avLst/>
          </a:prstGeom>
          <a:solidFill>
            <a:srgbClr val="3B5BD9"/>
          </a:solidFill>
          <a:ln/>
        </p:spPr>
      </p:sp>
      <p:sp>
        <p:nvSpPr>
          <p:cNvPr id="17" name="Text 15"/>
          <p:cNvSpPr/>
          <p:nvPr/>
        </p:nvSpPr>
        <p:spPr>
          <a:xfrm>
            <a:off x="8519008" y="25603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3B5B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519008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Binding continuity contract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519008" y="40690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Response-time SLAs, full data export on demand, documented runbooks, and a transition clause if the society ever wants to switch. No lock-in, by paper.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engineer: T V Subramanyam  ·  Urban Trilla resident  ·  Co-maintainer activated under signed SLA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regimes. Three resolved. One on the runway.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22144" cy="4023360"/>
          </a:xfrm>
          <a:prstGeom prst="roundRect">
            <a:avLst>
              <a:gd name="adj" fmla="val 5076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DPDPA-2023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19735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 before portal access · anonymous polls · anonymous feedback · immutable audit log · row-level security · AES-256 Aadhaar · pre-signed downloads expire 60 minutes.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36544" y="2103120"/>
            <a:ext cx="2522144" cy="4023360"/>
          </a:xfrm>
          <a:prstGeom prst="roundRect">
            <a:avLst>
              <a:gd name="adj" fmla="val 5076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0864" y="2377440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RERA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710864" y="28803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710864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10864" y="3383280"/>
            <a:ext cx="19735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 tracker with dual sign-off and evidence chain · snag verification audit · builder-side document binding · timestamps that survive disputes.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33008" y="2103120"/>
            <a:ext cx="2522144" cy="4023360"/>
          </a:xfrm>
          <a:prstGeom prst="roundRect">
            <a:avLst>
              <a:gd name="adj" fmla="val 5076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7328" y="2377440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SOCIETY BYELAWS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07328" y="28803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507328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07328" y="3383280"/>
            <a:ext cx="19735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lifecycle bound to property proof (sale deed / lease / Aadhaar last-4) · admin approval workflow · auto-unit binding on approval.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29471" y="2103120"/>
            <a:ext cx="2522144" cy="4023360"/>
          </a:xfrm>
          <a:prstGeom prst="roundRect">
            <a:avLst>
              <a:gd name="adj" fmla="val 5076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03791" y="2377440"/>
            <a:ext cx="197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 DLT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9303791" y="288036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303791" y="288036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ROADMAP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303791" y="3383280"/>
            <a:ext cx="1973504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and messaging-app dispatch wired behind a feature flag. Switch on the day TRAI DLT registration completes — no code change required.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 30 DAYS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mobile apps. iOS + Android.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Native, push-notified, biometric-secured. Same database. Same audit trail. Same governance gates.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321040" y="2194560"/>
            <a:ext cx="1691640" cy="3657600"/>
          </a:xfrm>
          <a:prstGeom prst="roundRect">
            <a:avLst>
              <a:gd name="adj" fmla="val 9730"/>
            </a:avLst>
          </a:prstGeom>
          <a:solidFill>
            <a:srgbClr val="0F1320"/>
          </a:solidFill>
          <a:ln w="10160">
            <a:solidFill>
              <a:srgbClr val="D4A2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2304288"/>
            <a:ext cx="1508760" cy="3438144"/>
          </a:xfrm>
          <a:prstGeom prst="roundRect">
            <a:avLst>
              <a:gd name="adj" fmla="val 7273"/>
            </a:avLst>
          </a:prstGeom>
          <a:solidFill>
            <a:srgbClr val="0A0E1A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2359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8458200" y="265176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503920" y="297180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31A2E"/>
          </a:solidFill>
          <a:ln/>
        </p:spPr>
      </p:sp>
      <p:sp>
        <p:nvSpPr>
          <p:cNvPr id="10" name="Shape 8"/>
          <p:cNvSpPr/>
          <p:nvPr/>
        </p:nvSpPr>
        <p:spPr>
          <a:xfrm>
            <a:off x="8503920" y="2971800"/>
            <a:ext cx="45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613648" y="2971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  ·  3 awaiting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8503920" y="352044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31A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352044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613648" y="3520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₹24,190 due 12 Jun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8503920" y="40690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31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4069080"/>
            <a:ext cx="45720" cy="457200"/>
          </a:xfrm>
          <a:prstGeom prst="rect">
            <a:avLst/>
          </a:prstGeom>
          <a:solidFill>
            <a:srgbClr val="3B5BD9"/>
          </a:solidFill>
          <a:ln/>
        </p:spPr>
      </p:sp>
      <p:sp>
        <p:nvSpPr>
          <p:cNvPr id="17" name="Text 15"/>
          <p:cNvSpPr/>
          <p:nvPr/>
        </p:nvSpPr>
        <p:spPr>
          <a:xfrm>
            <a:off x="8613648" y="4069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at Gate A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503920" y="46177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3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8503920" y="4617720"/>
            <a:ext cx="45720" cy="45720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20" name="Text 18"/>
          <p:cNvSpPr/>
          <p:nvPr/>
        </p:nvSpPr>
        <p:spPr>
          <a:xfrm>
            <a:off x="8613648" y="4617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· maintenance rate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149840" y="2331720"/>
            <a:ext cx="1691640" cy="3657600"/>
          </a:xfrm>
          <a:prstGeom prst="roundRect">
            <a:avLst>
              <a:gd name="adj" fmla="val 9730"/>
            </a:avLst>
          </a:prstGeom>
          <a:solidFill>
            <a:srgbClr val="0F1320"/>
          </a:solidFill>
          <a:ln w="10160">
            <a:solidFill>
              <a:srgbClr val="D4A2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2441448"/>
            <a:ext cx="1508760" cy="3438144"/>
          </a:xfrm>
          <a:prstGeom prst="roundRect">
            <a:avLst>
              <a:gd name="adj" fmla="val 7273"/>
            </a:avLst>
          </a:prstGeom>
          <a:solidFill>
            <a:srgbClr val="0A0E1A"/>
          </a:solidFill>
          <a:ln/>
        </p:spPr>
      </p:sp>
      <p:sp>
        <p:nvSpPr>
          <p:cNvPr id="23" name="Text 21"/>
          <p:cNvSpPr/>
          <p:nvPr/>
        </p:nvSpPr>
        <p:spPr>
          <a:xfrm>
            <a:off x="10332720" y="249631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8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287000" y="278892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UTAMACS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332720" y="310896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31A2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32720" y="3108960"/>
            <a:ext cx="45720" cy="457200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42448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 · scan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10332720" y="365760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31A2E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32720" y="3657600"/>
            <a:ext cx="45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10442448" y="36576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complaint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0332720" y="420624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31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332720" y="4206240"/>
            <a:ext cx="45720" cy="457200"/>
          </a:xfrm>
          <a:prstGeom prst="rect">
            <a:avLst/>
          </a:prstGeom>
          <a:solidFill>
            <a:srgbClr val="3B5BD9"/>
          </a:solidFill>
          <a:ln/>
        </p:spPr>
      </p:sp>
      <p:sp>
        <p:nvSpPr>
          <p:cNvPr id="33" name="Text 31"/>
          <p:cNvSpPr/>
          <p:nvPr/>
        </p:nvSpPr>
        <p:spPr>
          <a:xfrm>
            <a:off x="10442448" y="4206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notice ack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10332720" y="4754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131A2E"/>
          </a:solidFill>
          <a:ln/>
        </p:spPr>
      </p:sp>
      <p:sp>
        <p:nvSpPr>
          <p:cNvPr id="35" name="Shape 33"/>
          <p:cNvSpPr/>
          <p:nvPr/>
        </p:nvSpPr>
        <p:spPr>
          <a:xfrm>
            <a:off x="10332720" y="4754880"/>
            <a:ext cx="4572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10442448" y="4754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login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40080" y="2651760"/>
            <a:ext cx="292608" cy="292608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97280" y="2606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for SLAs, approvals, votes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1097280" y="29718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notifications — directly actionable from the lock screen.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" y="3520440"/>
            <a:ext cx="292608" cy="292608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097280" y="3474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+ OTP visitor check-in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097280" y="3840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pre-issues, guard scans. The security trail is now the visitor record.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0080" y="4389120"/>
            <a:ext cx="292608" cy="292608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389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9728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Camera-first complaints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1097280" y="4709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app, hit the shutter. Photos auto-attach, GPS optional.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5257800"/>
            <a:ext cx="292608" cy="292608"/>
          </a:xfrm>
          <a:prstGeom prst="ellipse">
            <a:avLst/>
          </a:prstGeom>
          <a:solidFill>
            <a:srgbClr val="D4A24E"/>
          </a:solidFill>
          <a:ln/>
        </p:spPr>
      </p:sp>
      <p:sp>
        <p:nvSpPr>
          <p:cNvPr id="50" name="Text 48"/>
          <p:cNvSpPr/>
          <p:nvPr/>
        </p:nvSpPr>
        <p:spPr>
          <a:xfrm>
            <a:off x="64008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E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097280" y="5212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Biometric login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1097280" y="5577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/ fingerprint. No passwords on a phone in a lift lobby.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Supabase. Same RLS. Same audit log. Web and mobile diverge in form, never in truth.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ON THE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artificial intelligence earns its keep.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Disciplined and phased — never on the critical path of a financial or governance write. Five layers of guardrails between any model and any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80848" y="2423160"/>
            <a:ext cx="3657600" cy="2834640"/>
          </a:xfrm>
          <a:prstGeom prst="roundRect">
            <a:avLst>
              <a:gd name="adj" fmla="val 4516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848" y="2423160"/>
            <a:ext cx="3657600" cy="54864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7" name="Text 5"/>
          <p:cNvSpPr/>
          <p:nvPr/>
        </p:nvSpPr>
        <p:spPr>
          <a:xfrm>
            <a:off x="655168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5168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  ·  ~₹100–200 / mo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5168" y="32918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across notices, byelaws and decisions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+ priority-score every complaint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every finance entry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One-paragraph TL;DR summary on long notices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7048" y="2423160"/>
            <a:ext cx="3657600" cy="2834640"/>
          </a:xfrm>
          <a:prstGeom prst="roundRect">
            <a:avLst>
              <a:gd name="adj" fmla="val 4516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7048" y="2423160"/>
            <a:ext cx="36576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541368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12–18 MO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41368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4–9  ·  ~₹300–600 / mo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41368" y="32918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over the asset register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Q&amp;A — RAG over your byelaws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scoring across history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variance + monthly narrative report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53248" y="2423160"/>
            <a:ext cx="3657600" cy="2834640"/>
          </a:xfrm>
          <a:prstGeom prst="roundRect">
            <a:avLst>
              <a:gd name="adj" fmla="val 4516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53248" y="2423160"/>
            <a:ext cx="3657600" cy="54864"/>
          </a:xfrm>
          <a:prstGeom prst="rect">
            <a:avLst/>
          </a:prstGeom>
          <a:solidFill>
            <a:srgbClr val="3B5BD9"/>
          </a:solidFill>
          <a:ln/>
        </p:spPr>
      </p:sp>
      <p:sp>
        <p:nvSpPr>
          <p:cNvPr id="17" name="Text 15"/>
          <p:cNvSpPr/>
          <p:nvPr/>
        </p:nvSpPr>
        <p:spPr>
          <a:xfrm>
            <a:off x="8427568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18–36 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27568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 ·  ~₹500–1,500 / 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27568" y="329184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 document intelligence — checklist compliance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Cross-society anonymised benchmarks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Five-year operational memory · institution-grade RAG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48640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B254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596128"/>
            <a:ext cx="10545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AI WILL NEVER DO  ·  ENFORCED IN CODE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58521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financial transaction  ·  Modify a vote, AGM record or audit log  ·  Delete any record  ·  Bypass row-level security  ·  Send communication without a human trigger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 ·  WITHOUT SURPRISES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one is free. Year two is materially below the category.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8008" y="210312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D4A2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8008" y="2103120"/>
            <a:ext cx="5349240" cy="54864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3768" y="274320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Free.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883768" y="41148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operations of the society. Hosting and infrastructure (Supabase, Vercel, GitHub) reimbursed at actual cost — transparent monthly invoice from upstream providers, never marked up.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24448" y="2103120"/>
            <a:ext cx="5349240" cy="365760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3B5B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4448" y="2103120"/>
            <a:ext cx="5349240" cy="54864"/>
          </a:xfrm>
          <a:prstGeom prst="rect">
            <a:avLst/>
          </a:prstGeom>
          <a:solidFill>
            <a:srgbClr val="3B5BD9"/>
          </a:solidFill>
          <a:ln/>
        </p:spPr>
      </p:sp>
      <p:sp>
        <p:nvSpPr>
          <p:cNvPr id="11" name="Text 9"/>
          <p:cNvSpPr/>
          <p:nvPr/>
        </p:nvSpPr>
        <p:spPr>
          <a:xfrm>
            <a:off x="6690208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3B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 ONWARDS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90208" y="2743200"/>
            <a:ext cx="4617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Materially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market.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690208" y="4297680"/>
            <a:ext cx="4617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maintenance fee priced below category-leading platforms, with the same — or stronger — feature footprint. No per-feature upsells, no per-resident surcharges, no data-export fees, ever.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reviewed annually with the committee — transparent, contracted, society-owned data at all times.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WAITING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risks the society absorbs every quarter without this in place.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448" y="2194560"/>
            <a:ext cx="5349240" cy="1783080"/>
          </a:xfrm>
          <a:prstGeom prst="roundRect">
            <a:avLst>
              <a:gd name="adj" fmla="val 7179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448" y="2194560"/>
            <a:ext cx="54864" cy="1783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06728" y="2377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Untraceable approvals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706728" y="28803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cheque flows without a two-signature paper trail. Legal exposure under society byelaws the day someone disputes.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3008" y="2194560"/>
            <a:ext cx="5349240" cy="1783080"/>
          </a:xfrm>
          <a:prstGeom prst="roundRect">
            <a:avLst>
              <a:gd name="adj" fmla="val 7179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008" y="2194560"/>
            <a:ext cx="54864" cy="1783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1" name="Text 9"/>
          <p:cNvSpPr/>
          <p:nvPr/>
        </p:nvSpPr>
        <p:spPr>
          <a:xfrm>
            <a:off x="6507328" y="2377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30288" y="2377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 handover artifacts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30288" y="28803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in messages, deeds in mailboxes, vendor invoices on desks. The builder owns the leverage in any dispute.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9448" y="4251960"/>
            <a:ext cx="5349240" cy="1783080"/>
          </a:xfrm>
          <a:prstGeom prst="roundRect">
            <a:avLst>
              <a:gd name="adj" fmla="val 7179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448" y="4251960"/>
            <a:ext cx="54864" cy="1783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883768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06728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drift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706728" y="49377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DPDPA-2023 penalties scale into crores; RERA penalties scale with project value. Each missed week pushes the bill forward.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3008" y="4251960"/>
            <a:ext cx="5349240" cy="1783080"/>
          </a:xfrm>
          <a:prstGeom prst="roundRect">
            <a:avLst>
              <a:gd name="adj" fmla="val 7179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008" y="4251960"/>
            <a:ext cx="54864" cy="178308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44348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30288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Treasurer burnout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30288" y="4937760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reminders, manual GST entries, manual receipts. The role becomes unfillable. Continuity collapses.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 · 60 · 90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this committee meeting to first AGM on the portal.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80848" y="210312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0848" y="2103120"/>
            <a:ext cx="3657600" cy="73152"/>
          </a:xfrm>
          <a:prstGeom prst="rect">
            <a:avLst/>
          </a:prstGeom>
          <a:solidFill>
            <a:srgbClr val="D4A24E"/>
          </a:solidFill>
          <a:ln/>
        </p:spPr>
      </p:sp>
      <p:sp>
        <p:nvSpPr>
          <p:cNvPr id="6" name="Text 4"/>
          <p:cNvSpPr/>
          <p:nvPr/>
        </p:nvSpPr>
        <p:spPr>
          <a:xfrm>
            <a:off x="746608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30 DAYS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6608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Migrate. Onboard. Gate.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6608" y="365760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136 units, owners and tenants migrated from current records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14-member committee orientation (4 hours, on-site)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live, consent gate active for every resident login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management + security patrol live on 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67048" y="210312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67048" y="2103120"/>
            <a:ext cx="36576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632808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31–60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32808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finance, vendors, HOTO.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32808" y="365760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+ TDS-aware invoicing for Q1 26-27 maintenance cycle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Approved-vendor list seeded; first work orders flowing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HOTO items raised against builder; dual sign-off in motion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in private TestFlight / internal track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53248" y="2103120"/>
            <a:ext cx="3657600" cy="4114800"/>
          </a:xfrm>
          <a:prstGeom prst="roundRect">
            <a:avLst>
              <a:gd name="adj" fmla="val 3500"/>
            </a:avLst>
          </a:prstGeom>
          <a:solidFill>
            <a:srgbClr val="1F2B4A">
              <a:alpha val="80000"/>
            </a:srgbClr>
          </a:solidFill>
          <a:ln w="6350">
            <a:solidFill>
              <a:srgbClr val="2D37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53248" y="2103120"/>
            <a:ext cx="3657600" cy="73152"/>
          </a:xfrm>
          <a:prstGeom prst="rect">
            <a:avLst/>
          </a:prstGeom>
          <a:solidFill>
            <a:srgbClr val="3B5BD9"/>
          </a:solidFill>
          <a:ln/>
        </p:spPr>
      </p:sp>
      <p:sp>
        <p:nvSpPr>
          <p:cNvPr id="16" name="Text 14"/>
          <p:cNvSpPr/>
          <p:nvPr/>
        </p:nvSpPr>
        <p:spPr>
          <a:xfrm>
            <a:off x="8519008" y="2377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3B5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19008" y="2743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AGM. End-to-end.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519008" y="3657600"/>
            <a:ext cx="29260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shipped to App Store and Play Store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AGM run on the portal — RSVP, quorum, motions, polls, minutes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dashboard reviewed by President + Secretary in joint session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1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modules in steady-state daily use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THIS COMMITTEE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decisions. One meeting. The rest is execution.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0848" y="210312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1F2B4A">
              <a:alpha val="85000"/>
            </a:srgbClr>
          </a:solidFill>
          <a:ln w="6350">
            <a:solidFill>
              <a:srgbClr val="D4A2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6608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46608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Greenlight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6608" y="3977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resolution to adopt the UTAMACS portal as the society's system of record from 1 June 2026 — recorded in this meeting's minutes and published to all members.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67048" y="210312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1F2B4A">
              <a:alpha val="85000"/>
            </a:srgbClr>
          </a:solidFill>
          <a:ln w="6350">
            <a:solidFill>
              <a:srgbClr val="D4A2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2808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632808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32808" y="3977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 4-hour committee orientation in the next 14 days. President, Secretary, Treasurer attend in person; remaining members may join over the call.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3248" y="2103120"/>
            <a:ext cx="3657600" cy="4023360"/>
          </a:xfrm>
          <a:prstGeom prst="roundRect">
            <a:avLst>
              <a:gd name="adj" fmla="val 3500"/>
            </a:avLst>
          </a:prstGeom>
          <a:solidFill>
            <a:srgbClr val="1F2B4A">
              <a:alpha val="85000"/>
            </a:srgbClr>
          </a:solidFill>
          <a:ln w="6350">
            <a:solidFill>
              <a:srgbClr val="D4A2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19008" y="2468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8519008" y="3246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Co-sign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519008" y="397764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 two members — Secretary and Treasurer recommended — as primary admins. They co-hold the keys, alongside the engineering team. No single-key risk, ever.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0" y="6537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TRILLA MACS  ·  Reg No · TG/RRD/MACS/2026-15/FOW &amp; 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64328" y="1371600"/>
            <a:ext cx="1463040" cy="0"/>
          </a:xfrm>
          <a:prstGeom prst="line">
            <a:avLst/>
          </a:prstGeom>
          <a:noFill/>
          <a:ln w="22860">
            <a:solidFill>
              <a:srgbClr val="D4A2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0" dirty="0">
                <a:solidFill>
                  <a:srgbClr val="F8F8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Owned by the society.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800" i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Forever.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4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Community Operating System for Urban Trilla.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B0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 owner.   ·   Maintained on contract.   ·   Auditable end-to-end.   ·   Yours from day one.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15688" y="5349240"/>
            <a:ext cx="2560320" cy="1386309"/>
          </a:xfrm>
          <a:prstGeom prst="roundRect">
            <a:avLst>
              <a:gd name="adj" fmla="val 52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00000">
                <a:alpha val="28000"/>
              </a:srgbClr>
            </a:outerShdw>
          </a:effectLst>
        </p:spPr>
      </p:sp>
      <p:pic>
        <p:nvPicPr>
          <p:cNvPr id="8" name="Image 0" descr="/sessions/admiring-stoic-tesla/mnt/outputs/deck-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992" y="5517546"/>
            <a:ext cx="2267712" cy="10496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URBAN TRILLA MACS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UTAMACS Portal — Why this, why now</dc:title>
  <dc:subject>Committee briefing</dc:subject>
  <dc:creator>URBAN TRILLA MACS</dc:creator>
  <cp:lastModifiedBy>URBAN TRILLA MACS</cp:lastModifiedBy>
  <cp:revision>1</cp:revision>
  <dcterms:created xsi:type="dcterms:W3CDTF">2026-05-10T03:40:40Z</dcterms:created>
  <dcterms:modified xsi:type="dcterms:W3CDTF">2026-05-10T03:40:40Z</dcterms:modified>
</cp:coreProperties>
</file>